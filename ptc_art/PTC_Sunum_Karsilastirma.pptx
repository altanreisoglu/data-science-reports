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965960"/>
            <a:ext cx="101800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spc="-60" kern="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PTC Artifact Persistence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1005840" y="2788920"/>
            <a:ext cx="101800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Karşılaştırmalı sunum — her sayfa bir özellik, her sayfada bir tablo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024128" y="3429000"/>
            <a:ext cx="2011680" cy="27432"/>
          </a:xfrm>
          <a:prstGeom prst="rect">
            <a:avLst/>
          </a:prstGeom>
          <a:solidFill>
            <a:srgbClr val="D8D8DC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65760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Sandbox'ın ölmesi güvenlik için gerekli.</a:t>
            </a:r>
            <a:endParaRPr lang="en-US" sz="17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Ürettiğinin kalması iş için gerekli.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05840" y="5943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2026-09-07  ·  22 sayfa  ·  bütün ölçümler canlı cluster'dan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SAYFA 1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spc="-40" kern="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Problem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05840"/>
            <a:ext cx="1371600" cy="25603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225296"/>
            <a:ext cx="41148" cy="457200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6" name="Text 4"/>
          <p:cNvSpPr/>
          <p:nvPr/>
        </p:nvSpPr>
        <p:spPr>
          <a:xfrm>
            <a:off x="768096" y="1225296"/>
            <a:ext cx="1078351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Sandbox'ın </a:t>
            </a:r>
            <a:pPr indent="0" marL="0">
              <a:buNone/>
            </a:pPr>
            <a:r>
              <a:rPr lang="en-US" sz="1200" b="1" i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ölmesi</a:t>
            </a:r>
            <a:pPr indent="0" marL="0">
              <a:buNone/>
            </a:pPr>
            <a:r>
              <a:rPr lang="en-US" sz="1200" i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güvenlik için gerekli. Ürettiğinin </a:t>
            </a:r>
            <a:pPr indent="0" marL="0">
              <a:buNone/>
            </a:pPr>
            <a:r>
              <a:rPr lang="en-US" sz="1200" b="1" i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kalması</a:t>
            </a:r>
            <a:pPr indent="0" marL="0">
              <a:buNone/>
            </a:pPr>
            <a:r>
              <a:rPr lang="en-US" sz="1200" i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iş için gerekli.</a:t>
            </a:r>
            <a:endParaRPr lang="en-US" sz="1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883664"/>
          <a:ext cx="11057839" cy="914400"/>
        </p:xfrm>
        <a:graphic>
          <a:graphicData uri="http://schemas.openxmlformats.org/drawingml/2006/table">
            <a:tbl>
              <a:tblPr/>
              <a:tblGrid>
                <a:gridCol w="2755614"/>
                <a:gridCol w="4151113"/>
                <a:gridCol w="4151113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Ne olur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Sonuç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Sandbox yaşarsa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Bir çalıştırma diğerine bulaşır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İzolasyon yok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Artifact ölürse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40 sn'lik iş her turda tekrarlanır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Kullanılamaz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2999232"/>
            <a:ext cx="11057839" cy="4480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3054096"/>
            <a:ext cx="1076523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Kural: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Sandbox'ın yaşam süresi, ürettiğinin yaşam süresini belirlememeli.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3611880"/>
            <a:ext cx="11057839" cy="4480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11" name="Text 8"/>
          <p:cNvSpPr/>
          <p:nvPr/>
        </p:nvSpPr>
        <p:spPr>
          <a:xfrm>
            <a:off x="713232" y="3666744"/>
            <a:ext cx="1076523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Karıştırılmaması gereken üçlü:</a:t>
            </a:r>
            <a:endParaRPr lang="en-US" sz="1200" dirty="0"/>
          </a:p>
        </p:txBody>
      </p:sp>
      <p:graphicFrame>
        <p:nvGraphicFramePr>
          <p:cNvPr id="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224528"/>
          <a:ext cx="11057839" cy="914400"/>
        </p:xfrm>
        <a:graphic>
          <a:graphicData uri="http://schemas.openxmlformats.org/drawingml/2006/table">
            <a:tbl>
              <a:tblPr/>
              <a:tblGrid>
                <a:gridCol w="2755614"/>
                <a:gridCol w="4151113"/>
                <a:gridCol w="4151113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Örnek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Nerede durmalı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Geçici dosya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Ara hesap, cache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Sandbox diski —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ölmesi istenir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Artifact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40 sn'de üretilen tablo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Kalıcı depo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State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"Konuşmada nerede kaldım"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Ayrı, ama o da kalıcı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14" name="Text 10"/>
          <p:cNvSpPr/>
          <p:nvPr/>
        </p:nvSpPr>
        <p:spPr>
          <a:xfrm>
            <a:off x="566928" y="64556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PTC · Artifact Persistence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10527487" y="645566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 / 22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SAYFA 2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spc="-40" kern="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İzolasyon: kod nerede çalışıyor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05840"/>
            <a:ext cx="1371600" cy="25603"/>
          </a:xfrm>
          <a:prstGeom prst="rect">
            <a:avLst/>
          </a:prstGeom>
          <a:solidFill>
            <a:srgbClr val="0071E3"/>
          </a:solidFill>
          <a:ln/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25296"/>
          <a:ext cx="11057839" cy="914400"/>
        </p:xfrm>
        <a:graphic>
          <a:graphicData uri="http://schemas.openxmlformats.org/drawingml/2006/table">
            <a:tbl>
              <a:tblPr/>
              <a:tblGrid>
                <a:gridCol w="2585323"/>
                <a:gridCol w="2824172"/>
                <a:gridCol w="2824172"/>
                <a:gridCol w="28241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Yöntem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Ne demek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Kim kullanıyor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Güç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Container (runc)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Kernel paylaşılır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71E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BİZ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En zayıf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V8 isolate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JS motoru içinde bölge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Cloudflare Code Mode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Dar ama sıkı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gVisor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Araya sahte kernel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Google GKE Agent Sandbox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Orta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Kata / microVM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Pod başına kendi kernel'i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Red Hat önerisi, E2B, Vercel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Güçlü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Hyper-V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Donanım sanallaştırma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Microsoft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Güçlü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3191256"/>
            <a:ext cx="11057839" cy="6766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3246120"/>
            <a:ext cx="1076523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Sonuç: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Bu listede en zayıf olan biziz. Red Hat AI-üretimi kod için açıkça Kata öneriyor. Kod değişikliği gerektirmez — node seviyesinde önkoşul.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9" name="Text 6"/>
          <p:cNvSpPr/>
          <p:nvPr/>
        </p:nvSpPr>
        <p:spPr>
          <a:xfrm>
            <a:off x="566928" y="64556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PTC · Artifact Persistence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0527487" y="645566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 / 22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SAYFA 3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spc="-40" kern="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Sandbox ömrü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05840"/>
            <a:ext cx="1371600" cy="25603"/>
          </a:xfrm>
          <a:prstGeom prst="rect">
            <a:avLst/>
          </a:prstGeom>
          <a:solidFill>
            <a:srgbClr val="0071E3"/>
          </a:solidFill>
          <a:ln/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25296"/>
          <a:ext cx="11057839" cy="914400"/>
        </p:xfrm>
        <a:graphic>
          <a:graphicData uri="http://schemas.openxmlformats.org/drawingml/2006/table">
            <a:tbl>
              <a:tblPr/>
              <a:tblGrid>
                <a:gridCol w="2755614"/>
                <a:gridCol w="4151113"/>
                <a:gridCol w="4151113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Model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Kim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Süre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Her çağrıda yeni, saklanmaz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71E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BİZ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3.14 sn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Efemer + cooldown'da yok edilir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Microsoft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Havuzdan ms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Varsayılan yeni, id ile canlanır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Anthropic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30 gün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(5 dk'da checkpoint)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Adlandırılmış, uzun ömürlü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Google Agent Engine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14 gün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Süre sınırlı oturum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AWS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15 dk – 8 saat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Kalıcı workspace + snapshot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OpenAI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3474720"/>
            <a:ext cx="11057839" cy="6766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3529584"/>
            <a:ext cx="1076523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Ayrım: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Anthropic *container'ı* saklıyor (değişkenler, dosyalar, hatta yorumlayıcı durumu). Biz *artifact'i* saklıyoruz. Farklı problem, farklı çözüm.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9" name="Text 6"/>
          <p:cNvSpPr/>
          <p:nvPr/>
        </p:nvSpPr>
        <p:spPr>
          <a:xfrm>
            <a:off x="566928" y="64556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PTC · Artifact Persistence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0527487" y="645566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 / 22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SAYFA 4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spc="-40" kern="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Depoya erişim: mount mu, API mi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05840"/>
            <a:ext cx="1371600" cy="25603"/>
          </a:xfrm>
          <a:prstGeom prst="rect">
            <a:avLst/>
          </a:prstGeom>
          <a:solidFill>
            <a:srgbClr val="0071E3"/>
          </a:solidFill>
          <a:ln/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25296"/>
          <a:ext cx="11057839" cy="914400"/>
        </p:xfrm>
        <a:graphic>
          <a:graphicData uri="http://schemas.openxmlformats.org/drawingml/2006/table">
            <a:tbl>
              <a:tblPr/>
              <a:tblGrid>
                <a:gridCol w="2755614"/>
                <a:gridCol w="4151113"/>
                <a:gridCol w="4151113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Yaklaşım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Yazınca ne olur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Kim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Mount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Yol = bucket. Yazdığın an gider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E2B, Modal, Daytona, Vercel, Cloudflare, Fly.io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API/SDK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Sıradan klasör; bir bileşen taşır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71E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BİZ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, Anthropic, OpenAI, Red Hat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2340864"/>
            <a:ext cx="11057839" cy="4480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2395728"/>
            <a:ext cx="1076523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Red Hat ne diyor: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2953512"/>
            <a:ext cx="41148" cy="457200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2953512"/>
            <a:ext cx="1078351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*"…you must create a local client … by using an AWS SDK such as Boto3."*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66928" y="3611880"/>
            <a:ext cx="11057839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FUSE mount ve CSI sürücüsü dokümanda </a:t>
            </a:r>
            <a:pPr indent="0" marL="0">
              <a:buNone/>
            </a:pPr>
            <a:r>
              <a:rPr lang="en-US" sz="1200" b="1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hiç geçmiyor</a:t>
            </a:r>
            <a:pPr indent="0" marL="0">
              <a:buNone/>
            </a:pPr>
            <a:r>
              <a:rPr lang="en-US" sz="12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66928" y="4078224"/>
            <a:ext cx="11057839" cy="4480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12" name="Text 9"/>
          <p:cNvSpPr/>
          <p:nvPr/>
        </p:nvSpPr>
        <p:spPr>
          <a:xfrm>
            <a:off x="713232" y="4133088"/>
            <a:ext cx="1076523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Mount'un bedeli: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64556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PTC · Artifact Persistence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0527487" y="645566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 / 22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SAYFA 4 · devam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spc="-40" kern="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Depoya erişim: mount mu, API mi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05840"/>
            <a:ext cx="1371600" cy="25603"/>
          </a:xfrm>
          <a:prstGeom prst="rect">
            <a:avLst/>
          </a:prstGeom>
          <a:solidFill>
            <a:srgbClr val="0071E3"/>
          </a:solidFill>
          <a:ln/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25296"/>
          <a:ext cx="11057839" cy="914400"/>
        </p:xfrm>
        <a:graphic>
          <a:graphicData uri="http://schemas.openxmlformats.org/drawingml/2006/table">
            <a:tbl>
              <a:tblPr/>
              <a:tblGrid>
                <a:gridCol w="2755614"/>
                <a:gridCol w="4151113"/>
                <a:gridCol w="4151113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Mount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Bizimki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Çok büyük dosya (&gt;512Mi)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7E4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✗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Kısmi/akan yazma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7E4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✗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Kayıt defteri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✗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7E4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İçerik doğrulaması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✗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7E4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Kapsam granülaritesi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Bucket/prefix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Çalıştırma başına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64556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PTC · Artifact Persistence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527487" y="645566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 / 22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SAYFA 5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spc="-40" kern="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Anahtar kimde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05840"/>
            <a:ext cx="1371600" cy="25603"/>
          </a:xfrm>
          <a:prstGeom prst="rect">
            <a:avLst/>
          </a:prstGeom>
          <a:solidFill>
            <a:srgbClr val="0071E3"/>
          </a:solidFill>
          <a:ln/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25296"/>
          <a:ext cx="11057839" cy="914400"/>
        </p:xfrm>
        <a:graphic>
          <a:graphicData uri="http://schemas.openxmlformats.org/drawingml/2006/table">
            <a:tbl>
              <a:tblPr/>
              <a:tblGrid>
                <a:gridCol w="2755614"/>
                <a:gridCol w="4151113"/>
                <a:gridCol w="4151113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Konum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Kim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Risk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Sandbox'ın içinde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E2B (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/root/.passwd-s3fs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), Vercel (düz), Daytona (external)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Denetlenmemiş kod anahtarı görüyor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Sandbox'ta ama IAM ile dar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AWS (execution role)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Rol kadar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Dışarıda, aracıda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Cloudflare (binding/proxy), Vercel (proxy)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Mount var, anahtar yok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Hiç yok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71E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BİZ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, Anthropic, OpenAI, Fly.io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2907792"/>
            <a:ext cx="11057839" cy="4480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2962656"/>
            <a:ext cx="1076523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Bizde: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sandbox'ta S3 anahtarı yok, MinIO'ya rota yok, DNS yok. </a:t>
            </a:r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Doğrulandı: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0071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gaierror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+ </a:t>
            </a:r>
            <a:pPr indent="0" marL="0">
              <a:buNone/>
            </a:pPr>
            <a:r>
              <a:rPr lang="en-US" sz="1200" dirty="0">
                <a:solidFill>
                  <a:srgbClr val="0071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ConnectionRefusedError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9" name="Text 6"/>
          <p:cNvSpPr/>
          <p:nvPr/>
        </p:nvSpPr>
        <p:spPr>
          <a:xfrm>
            <a:off x="566928" y="64556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PTC · Artifact Persistence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0527487" y="645566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 / 22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SAYFA 6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spc="-40" kern="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Kayıt defteri var mı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05840"/>
            <a:ext cx="1371600" cy="25603"/>
          </a:xfrm>
          <a:prstGeom prst="rect">
            <a:avLst/>
          </a:prstGeom>
          <a:solidFill>
            <a:srgbClr val="0071E3"/>
          </a:solidFill>
          <a:ln/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25296"/>
          <a:ext cx="11057839" cy="914400"/>
        </p:xfrm>
        <a:graphic>
          <a:graphicData uri="http://schemas.openxmlformats.org/drawingml/2006/table">
            <a:tbl>
              <a:tblPr/>
              <a:tblGrid>
                <a:gridCol w="4179863"/>
                <a:gridCol w="687797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Yok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71E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BİZ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(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artifact_id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, tip, soy, TTL, hash)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E2B, Modal, Daytona, Vercel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Anthropic (Files API)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Cloudflare, Fly.io, Microsoft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Red Hat / KFP (MLMD)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AWS (denetim CloudTrail'de)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2624328"/>
            <a:ext cx="11057839" cy="4480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2679192"/>
            <a:ext cx="1076523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Araştırmanın en keskin bulgusu: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3236976"/>
            <a:ext cx="41148" cy="694944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3236976"/>
            <a:ext cx="10783519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Mount eden sağlayıcıların </a:t>
            </a:r>
            <a:pPr indent="0" marL="0">
              <a:buNone/>
            </a:pPr>
            <a:r>
              <a:rPr lang="en-US" sz="1200" b="1" i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hiçbirinde</a:t>
            </a:r>
            <a:pPr indent="0" marL="0">
              <a:buNone/>
            </a:pPr>
            <a:r>
              <a:rPr lang="en-US" sz="1200" i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artifact registry yok. Yazılan dosyanın </a:t>
            </a:r>
            <a:pPr indent="0" marL="0">
              <a:buNone/>
            </a:pPr>
            <a:r>
              <a:rPr lang="en-US" sz="1200" i="1" dirty="0">
                <a:solidFill>
                  <a:srgbClr val="0071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artifact_id</a:t>
            </a:r>
            <a:pPr indent="0" marL="0">
              <a:buNone/>
            </a:pPr>
            <a:r>
              <a:rPr lang="en-US" sz="1200" i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'si, soyu, TTL'i yok — sadece bir S3 anahtarı var. Dokümanlar "persistent data access" diyor; </a:t>
            </a:r>
            <a:pPr indent="0" marL="0">
              <a:buNone/>
            </a:pPr>
            <a:r>
              <a:rPr lang="en-US" sz="1200" b="1" i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hiçbiri "artifact" demiyor.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4133088"/>
            <a:ext cx="11057839" cy="4480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11" name="Text 8"/>
          <p:cNvSpPr/>
          <p:nvPr/>
        </p:nvSpPr>
        <p:spPr>
          <a:xfrm>
            <a:off x="713232" y="4187952"/>
            <a:ext cx="1076523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Kural: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Kayıt defteri, yalnızca yazma yolu </a:t>
            </a:r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bir bileşenden geçtiğinde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ayakta kalıyor. Doğrudan mount = "sadece bucket".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64556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PTC · Artifact Persistence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0527487" y="645566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6 / 22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SAYFA 7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spc="-40" kern="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Ağ duruşu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05840"/>
            <a:ext cx="1371600" cy="25603"/>
          </a:xfrm>
          <a:prstGeom prst="rect">
            <a:avLst/>
          </a:prstGeom>
          <a:solidFill>
            <a:srgbClr val="0071E3"/>
          </a:solidFill>
          <a:ln/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25296"/>
          <a:ext cx="11057839" cy="914400"/>
        </p:xfrm>
        <a:graphic>
          <a:graphicData uri="http://schemas.openxmlformats.org/drawingml/2006/table">
            <a:tbl>
              <a:tblPr/>
              <a:tblGrid>
                <a:gridCol w="4179863"/>
                <a:gridCol w="687797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Duruş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Kim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Tamamen kapalı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Anthropic (*"Completely disabled for security"*)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Varsayılan reddet + allowlist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71E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BİZ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, Red Hat/OpenShell, Google GKE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Açık, yapılandırılabilir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AWS ("network modes")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Opsiyonel kontroller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Microsoft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2907792"/>
            <a:ext cx="11057839" cy="4480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2962656"/>
            <a:ext cx="1076523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Red Hat'in ifadesi: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3520440"/>
            <a:ext cx="41148" cy="694944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3520440"/>
            <a:ext cx="10783519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*"The default posture is deny-all. In practice, you write a policy that allowlists exactly the endpoints your agent needs."*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4416552"/>
            <a:ext cx="11057839" cy="6766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11" name="Text 8"/>
          <p:cNvSpPr/>
          <p:nvPr/>
        </p:nvSpPr>
        <p:spPr>
          <a:xfrm>
            <a:off x="713232" y="4471416"/>
            <a:ext cx="1076523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Bizde iki servis ayrı: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Tool Gateway internete çıkar, depoya çıkamaz. Artifact Service depoya çıkar, internete çıkamaz. Tek workload'ın ele geçirilmesi ikisini birden vermiyor.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64556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PTC · Artifact Persistence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0527487" y="645566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7 / 22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SAYFA 8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spc="-40" kern="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Yazmayı kim tetikliyor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05840"/>
            <a:ext cx="1371600" cy="25603"/>
          </a:xfrm>
          <a:prstGeom prst="rect">
            <a:avLst/>
          </a:prstGeom>
          <a:solidFill>
            <a:srgbClr val="0071E3"/>
          </a:solidFill>
          <a:ln/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25296"/>
          <a:ext cx="11057839" cy="914400"/>
        </p:xfrm>
        <a:graphic>
          <a:graphicData uri="http://schemas.openxmlformats.org/drawingml/2006/table">
            <a:tbl>
              <a:tblPr/>
              <a:tblGrid>
                <a:gridCol w="2755614"/>
                <a:gridCol w="4151113"/>
                <a:gridCol w="4151113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Mekanizma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Kim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LLM bilmek zorunda mı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$OUTPUT_DIR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süpürme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Anthropic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Hayır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/mnt/data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OpenAI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Hayır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Workspace dizini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OpenHands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Hayır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.path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→ launcher kopyalar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KFP / OpenShift AI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Hayır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/output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süpürme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71E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BİZ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Hayır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Açık RPC zorunlu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Cloudflare Code Mode *(dosya sistemi yok)*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Evet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3474720"/>
            <a:ext cx="11057839" cy="4480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3529584"/>
            <a:ext cx="1076523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Dokuz sistemin dokuzu da bir DOSYA YOLU.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Hiçbiri sandbox'taki koda artifact fonksiyonu sunmuyor.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087368"/>
            <a:ext cx="11057839" cy="6766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4142232"/>
            <a:ext cx="1076523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2026-09-06: bizdeki açık API kaldırıldı.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0071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put_artifact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/</a:t>
            </a:r>
            <a:pPr indent="0" marL="0">
              <a:buNone/>
            </a:pPr>
            <a:r>
              <a:rPr lang="en-US" sz="1200" dirty="0">
                <a:solidFill>
                  <a:srgbClr val="0071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get_artifact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/ </a:t>
            </a:r>
            <a:pPr indent="0" marL="0">
              <a:buNone/>
            </a:pPr>
            <a:r>
              <a:rPr lang="en-US" sz="1200" dirty="0">
                <a:solidFill>
                  <a:srgbClr val="0071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cached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piyasada emsalsizdi ve canlı hataların hepsi o yüzeydeydi.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64556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PTC · Artifact Persistence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0527487" y="645566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8 / 22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SAYFA 8 · devam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spc="-40" kern="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Yazmayı kim tetikliyor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05840"/>
            <a:ext cx="1371600" cy="25603"/>
          </a:xfrm>
          <a:prstGeom prst="rect">
            <a:avLst/>
          </a:prstGeom>
          <a:solidFill>
            <a:srgbClr val="0071E3"/>
          </a:solidFill>
          <a:ln/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25296"/>
          <a:ext cx="11057839" cy="914400"/>
        </p:xfrm>
        <a:graphic>
          <a:graphicData uri="http://schemas.openxmlformats.org/drawingml/2006/table">
            <a:tbl>
              <a:tblPr/>
              <a:tblGrid>
                <a:gridCol w="2755614"/>
                <a:gridCol w="4151113"/>
                <a:gridCol w="4151113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Önce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Şimdi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Yazma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put_artifact(df, name=...)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df.to_parquet("/output/x.parquet")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Okuma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get_artifact("x")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pd.read_parquet("/output/x.parquet")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Keşif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list_artifacts()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os.listdir("/output")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Retry atlama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cached(...)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if os.path.exists(...)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2907792"/>
            <a:ext cx="11057839" cy="4480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2962656"/>
            <a:ext cx="1076523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Süpürme = bucket'a kopyalama: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0071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/output/x.parquet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→ HTTP akış → Artifact Service → S3 PUT → bucket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9" name="Text 6"/>
          <p:cNvSpPr/>
          <p:nvPr/>
        </p:nvSpPr>
        <p:spPr>
          <a:xfrm>
            <a:off x="566928" y="64556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PTC · Artifact Persistence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0527487" y="645566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8 / 22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SAYFA 9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spc="-40" kern="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KEŞİF: ajan çekeceğini nasıl anlıyor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05840"/>
            <a:ext cx="1371600" cy="25603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225296"/>
            <a:ext cx="11057839" cy="4480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280160"/>
            <a:ext cx="1076523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Bu, oturum boyunca en çok kafa karıştıran soruydu.</a:t>
            </a:r>
            <a:endParaRPr lang="en-US" sz="1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837944"/>
          <a:ext cx="11057839" cy="914400"/>
        </p:xfrm>
        <a:graphic>
          <a:graphicData uri="http://schemas.openxmlformats.org/drawingml/2006/table">
            <a:tbl>
              <a:tblPr/>
              <a:tblGrid>
                <a:gridCol w="2585323"/>
                <a:gridCol w="2824172"/>
                <a:gridCol w="2824172"/>
                <a:gridCol w="28241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Desen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Nasıl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Kim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Sadece tool tarifi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Model çağırmayı *seçmek* zorunda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*(eskiden biz)*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Referans otomatik context'te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file_id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tool sonucunda döner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Anthropic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Dosya sistemi +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ls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Sandbox yaşıyorsa model bakar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Anthropic, Google, OpenHands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İsimler prompt'a enjekte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İsimler talimatlarda, içerik talep üzerine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71E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Google ADK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,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71E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BİZ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3+4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İkisi birden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Manifest promptta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ve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os.listdir("/output")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çalışıyor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71E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BİZ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(2026-09-06)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Semantik arama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Vektör deposunda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file_search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Llama Stack (RAG)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Keşif YOK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DAG statik, girdi bağlanmış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KFP, Argo, Airflow, Tekton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4370832"/>
            <a:ext cx="11057839" cy="6766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4425696"/>
            <a:ext cx="1076523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Desen 4'ün üç kuralı: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1. İsimler her zaman context'te — ucuz, model unutamaz 2. İçerik talep üzerine — pahalı olan sadece istendiğinde 3. İçerik geçmişe kalıcı yazılmaz — context şişmez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64556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PTC · Artifact Persistence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0527487" y="645566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9 / 22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SAYFA 10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spc="-40" kern="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Klasik pipeline vs ajan: neden farklı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05840"/>
            <a:ext cx="1371600" cy="25603"/>
          </a:xfrm>
          <a:prstGeom prst="rect">
            <a:avLst/>
          </a:prstGeom>
          <a:solidFill>
            <a:srgbClr val="0071E3"/>
          </a:solidFill>
          <a:ln/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25296"/>
          <a:ext cx="11057839" cy="914400"/>
        </p:xfrm>
        <a:graphic>
          <a:graphicData uri="http://schemas.openxmlformats.org/drawingml/2006/table">
            <a:tbl>
              <a:tblPr/>
              <a:tblGrid>
                <a:gridCol w="2755614"/>
                <a:gridCol w="4151113"/>
                <a:gridCol w="4151113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Klasik pipeline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Ajan dünyası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DAG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İnsan önceden yazar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LLM o an icat eder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5. adımın girdisi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Bağlanmış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Keşfedilmeli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Kim çözer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Driver, adım başlamadan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Modelin kendisi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Örnek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adim5(girdi=adim1.ciktilar["features"])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os.listdir("/output")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Kim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Airflow, Argo, KFP, Tekton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Anthropic, Google ADK, biz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3191256"/>
            <a:ext cx="11057839" cy="6766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3246120"/>
            <a:ext cx="1076523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Tek cümle: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Klasik pipeline'da 5. adım bir şey *anlamaz* — kendisine söylenir. Ajan dünyasında sormak zorundadır, çünkü kendisi de o an icat edilmiştir.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9" name="Text 6"/>
          <p:cNvSpPr/>
          <p:nvPr/>
        </p:nvSpPr>
        <p:spPr>
          <a:xfrm>
            <a:off x="566928" y="64556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PTC · Artifact Persistence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0527487" y="645566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10 / 22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SAYFA 11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spc="-40" kern="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OpenShift ne öneriyor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05840"/>
            <a:ext cx="1371600" cy="25603"/>
          </a:xfrm>
          <a:prstGeom prst="rect">
            <a:avLst/>
          </a:prstGeom>
          <a:solidFill>
            <a:srgbClr val="0071E3"/>
          </a:solidFill>
          <a:ln/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25296"/>
          <a:ext cx="11057839" cy="914400"/>
        </p:xfrm>
        <a:graphic>
          <a:graphicData uri="http://schemas.openxmlformats.org/drawingml/2006/table">
            <a:tbl>
              <a:tblPr/>
              <a:tblGrid>
                <a:gridCol w="4179863"/>
                <a:gridCol w="687797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Konu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OpenShift'in cevabı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Nesne deposu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Çekirdekte YOK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— depolama dokümanı baştan sona PV/PVC/CSI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Ama AI ürünü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S3 zorunlu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— *"You have an existing S3-compatible object storage bucket"*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Erişim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SDK (boto3)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, mount değil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Kimlik bilgisi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Secret → pod ortamı (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AWS_S3_ENDPOINT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,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AWS_S3_BUCKET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…)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Artifact taşıma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Launcher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.path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↔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.uri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kopyalıyor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Depo kökü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pipeline_root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—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 düzeyde yapılandırılabilir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Artifact tipleri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MLMD şema başlıkları (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system.Dataset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…)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Kapsam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Namespace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düzeyinde (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kfp-launcher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ConfigMap)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Tekton farklı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Workspace →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PVC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, nesne deposu değil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Güvenilmeyen kod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Kata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öneriliyor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Keşif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Yerleşik cevabı YOK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←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892040"/>
            <a:ext cx="11057839" cy="4480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4946904"/>
            <a:ext cx="1076523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Neden keşif cevabı yok: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9" name="Text 6"/>
          <p:cNvSpPr/>
          <p:nvPr/>
        </p:nvSpPr>
        <p:spPr>
          <a:xfrm>
            <a:off x="566928" y="64556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PTC · Artifact Persistence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0527487" y="645566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11 / 22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SAYFA 11 · devam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spc="-40" kern="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OpenShift ne öneriyor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05840"/>
            <a:ext cx="1371600" cy="25603"/>
          </a:xfrm>
          <a:prstGeom prst="rect">
            <a:avLst/>
          </a:prstGeom>
          <a:solidFill>
            <a:srgbClr val="0071E3"/>
          </a:solidFill>
          <a:ln/>
        </p:spPr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25296"/>
          <a:ext cx="11057839" cy="914400"/>
        </p:xfrm>
        <a:graphic>
          <a:graphicData uri="http://schemas.openxmlformats.org/drawingml/2006/table">
            <a:tbl>
              <a:tblPr/>
              <a:tblGrid>
                <a:gridCol w="2755614"/>
                <a:gridCol w="4151113"/>
                <a:gridCol w="4151113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Artifact kavramı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Ajan kavramı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KFP / DSP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7E4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✗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Llama Stack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✗ (RAG belgeleri)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7E4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2340864"/>
            <a:ext cx="11057839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Bizim durumumuz tam bu boşlukta. Depolama için OpenShift'i kopyaladık, keşif için Google ADK'yı.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64556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PTC · Artifact Persistence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0527487" y="645566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11 / 22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SAYFA 12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spc="-40" kern="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Hız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05840"/>
            <a:ext cx="1371600" cy="25603"/>
          </a:xfrm>
          <a:prstGeom prst="rect">
            <a:avLst/>
          </a:prstGeom>
          <a:solidFill>
            <a:srgbClr val="0071E3"/>
          </a:solidFill>
          <a:ln/>
        </p:spPr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25296"/>
          <a:ext cx="11057839" cy="914400"/>
        </p:xfrm>
        <a:graphic>
          <a:graphicData uri="http://schemas.openxmlformats.org/drawingml/2006/table">
            <a:tbl>
              <a:tblPr/>
              <a:tblGrid>
                <a:gridCol w="2755614"/>
                <a:gridCol w="4151113"/>
                <a:gridCol w="4151113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Sistem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Açılış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Nasıl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Cloudflare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milisaniyeler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Isolate hafif, havuza gerek yok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Microsoft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milisaniyeler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Warm pool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Google GKE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&lt; 1 sn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Warm pool + snapshot = "instant-on"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71E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BİZ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3.14 sn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Havuz yok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2907792"/>
            <a:ext cx="11057839" cy="4480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2962656"/>
            <a:ext cx="1076523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Bizim 3.14 sn'nin dağılımı: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1.62 sn pod başlatma + 1.49 sn süreç açılışı.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3520440"/>
            <a:ext cx="11057839" cy="4480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3575304"/>
            <a:ext cx="1076523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Yani warm pool'un tavanı 1.6 saniye.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Ölçtük, karmaşıklığa değmedi.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64556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PTC · Artifact Persistence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0527487" y="645566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 / 22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SAYFA 13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spc="-40" kern="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Biz neredeyiz: özet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05840"/>
            <a:ext cx="1371600" cy="25603"/>
          </a:xfrm>
          <a:prstGeom prst="rect">
            <a:avLst/>
          </a:prstGeom>
          <a:solidFill>
            <a:srgbClr val="0071E3"/>
          </a:solidFill>
          <a:ln/>
        </p:spPr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25296"/>
          <a:ext cx="11057839" cy="914400"/>
        </p:xfrm>
        <a:graphic>
          <a:graphicData uri="http://schemas.openxmlformats.org/drawingml/2006/table">
            <a:tbl>
              <a:tblPr/>
              <a:tblGrid>
                <a:gridCol w="4179863"/>
                <a:gridCol w="687797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Boyut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Kimle aynı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PTC tezi (kod yaz, tool çağırma)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Cloudflare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Ağ (kapalı + allowlist)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Anthropic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, Red Hat, Google GKE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Depoya erişim (SDK, mount yok)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Red Hat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, Anthropic, OpenAI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Çıktı yakalama (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/output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Anthropic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, OpenAI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Launcher deseni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Red Hat / KFP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Kayıt defteri + tipler + kök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Red Hat / KFP (MLMD)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Keşif (isimler prompt'ta)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Google ADK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Sandbox ömrü (efemer)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Microsoft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LLM yüzeyi (dosya, API yok)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hepsi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— KFP, Anthropic, OpenAI, MS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Kapsam (tenant)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Red Hat / KFP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—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pipeline_root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paylaşımlı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İzolasyon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Kimse — bizimki daha zayıf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Girdi yerleştirme (kod başlamadan)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Argo `init` / KFP `launcher`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Çapraz-çalıştırma erişimi (açık çağrı)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KFP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(açık URI) ·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Google ADK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(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load_artifact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64556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PTC · Artifact Persistence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527487" y="645566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13 / 22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SAYFA 13 · devam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spc="-40" kern="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Biz neredeyiz: özet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05840"/>
            <a:ext cx="1371600" cy="25603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225296"/>
            <a:ext cx="11057839" cy="11338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280160"/>
            <a:ext cx="10765231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Üç cümle: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1. Omurga tartışmasız SOTA — tezi Cloudflare'den, veri modelini Anthropic'ten, platform desenini Red Hat'ten aldık. 2. İzolasyonda herkesin gerisindeyiz (düz container). Warm pool yok ama kazancını ölçtük: ≤1.6 sn. 3. Emsalsiz olan </a:t>
            </a:r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üç şeyi de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bıraktık: LLM'e artifact API'si ve çalıştırma başına kapsam (2026-09-06), sonra şeffaf tembel okuma (2026-09-07) — yerine Argo/KFP'nin "girdiyi kod başlamadan yerleştir" deseni geçti. Hataların hepsi bizim icat ettiğimiz yerlerde çıkıyordu.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64556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PTC · Artifact Persistence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27487" y="645566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13 / 22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SAYFA 14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spc="-40" kern="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 değişti (2026-09-04 → 09-06)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05840"/>
            <a:ext cx="1371600" cy="25603"/>
          </a:xfrm>
          <a:prstGeom prst="rect">
            <a:avLst/>
          </a:prstGeom>
          <a:solidFill>
            <a:srgbClr val="0071E3"/>
          </a:solidFill>
          <a:ln/>
        </p:spPr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25296"/>
          <a:ext cx="11057839" cy="914400"/>
        </p:xfrm>
        <a:graphic>
          <a:graphicData uri="http://schemas.openxmlformats.org/drawingml/2006/table">
            <a:tbl>
              <a:tblPr/>
              <a:tblGrid>
                <a:gridCol w="2755614"/>
                <a:gridCol w="4151113"/>
                <a:gridCol w="4151113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Değişiklik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Öncesi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Sonrası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Artifact servisi ayrıldı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Tool Gateway'de, base64+MCP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Kendi pod'unda, akışlı HTTP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Prefetch kapsamı daraltıldı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Tenant'ın tamamı iniyordu, O(hepsi)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Çalıştırmaya kapsanmış yerleştirme, azami 35 KiB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TTL reaper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Şema vardı, çalıştıran yoktu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Saat başı CronJob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Oturum kimliği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Her bağlantıda yeni → artifact erişilemez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localStorage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/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--session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Workflow state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InMemorySaver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AsyncSqliteSaver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(Postgres'e hazır)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Depo sözleşmesi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Yalnızca OBC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OBC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OpenShift AI connection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Artifact tipleri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Yok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MLMD şema başlıkları +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.metadata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Depo kökü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Sabit kod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PTC_ARTIFACT_ROOT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Keşif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Yumuşak garanti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İsimler prompt'ta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(ADK deseni)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325112"/>
            <a:ext cx="11057839" cy="4480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4379976"/>
            <a:ext cx="1076523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2026-09-06 — büyük sadeleşme: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9" name="Text 6"/>
          <p:cNvSpPr/>
          <p:nvPr/>
        </p:nvSpPr>
        <p:spPr>
          <a:xfrm>
            <a:off x="566928" y="64556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PTC · Artifact Persistence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0527487" y="645566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14 / 22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SAYFA 14 · devam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spc="-40" kern="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 değişti (2026-09-04 → 09-06)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05840"/>
            <a:ext cx="1371600" cy="25603"/>
          </a:xfrm>
          <a:prstGeom prst="rect">
            <a:avLst/>
          </a:prstGeom>
          <a:solidFill>
            <a:srgbClr val="0071E3"/>
          </a:solidFill>
          <a:ln/>
        </p:spPr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25296"/>
          <a:ext cx="11057839" cy="914400"/>
        </p:xfrm>
        <a:graphic>
          <a:graphicData uri="http://schemas.openxmlformats.org/drawingml/2006/table">
            <a:tbl>
              <a:tblPr/>
              <a:tblGrid>
                <a:gridCol w="2755614"/>
                <a:gridCol w="4151113"/>
                <a:gridCol w="4151113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Değişiklik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Öncesi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Sonrası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LLM artifact API'si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 fonksiyon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YOK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— düz Python +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/output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Keşif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list_artifacts()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Manifest promptta +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/output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yerleştirilmiş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Kapsam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Çalıştırma başına mühürlü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Tenant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(KFP gibi)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Dizin çıktısı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Sessizce kayboluyordu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Tek tar, açılmış hâlde yerleşiyor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Soy ağacı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Kaydediliyor, okunmuyordu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Otomatik + panelde mermaid grafiği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PDF/PNG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.bin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olarak duruyordu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Gerçek tip + panelde önizleme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Çalıştırma izolasyonu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/output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düz — başkasınınki sızıyordu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İki kök: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/output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+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/artifacts/&lt;wf&gt;/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3758184"/>
            <a:ext cx="11057839" cy="4480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3813048"/>
            <a:ext cx="1076523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 sayısı: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179 · </a:t>
            </a:r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Canlı doğrulanan: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hepsi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9" name="Text 6"/>
          <p:cNvSpPr/>
          <p:nvPr/>
        </p:nvSpPr>
        <p:spPr>
          <a:xfrm>
            <a:off x="566928" y="64556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PTC · Artifact Persistence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0527487" y="645566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14 / 22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SAYFA 15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spc="-40" kern="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Girdi yerleştirme: icadı bırakmak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05840"/>
            <a:ext cx="1371600" cy="25603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225296"/>
            <a:ext cx="11057839" cy="4480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280160"/>
            <a:ext cx="1076523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Emsalsiz olan son desenimiz 2026-09-07'de kaldırıldı.</a:t>
            </a:r>
            <a:endParaRPr lang="en-US" sz="12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837944"/>
          <a:ext cx="11057839" cy="914400"/>
        </p:xfrm>
        <a:graphic>
          <a:graphicData uri="http://schemas.openxmlformats.org/drawingml/2006/table">
            <a:tbl>
              <a:tblPr/>
              <a:tblGrid>
                <a:gridCol w="2755614"/>
                <a:gridCol w="4151113"/>
                <a:gridCol w="4151113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Öncesi (icat)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Sonrası (Argo/KFP)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/output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içeriği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manifestten uydurulmuş isimler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gerçek dosyalar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İndirme anı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okuma çağrısının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ortasında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pod açılışında, sidecar'da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os.scandir("/output")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[]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— yamayı deliyordu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['x.parquet']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Yama satırı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~120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0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entrypoint.py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651 satır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357 satır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Okuyan çalıştırma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4,11 sn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3,13 sn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66928" y="408736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Yaptığı iş FUSE'un işiydi (Databricks, E2B, Vercel onu kullanıyor); OpenShift </a:t>
            </a:r>
            <a:pPr indent="0" marL="0">
              <a:buNone/>
            </a:pPr>
            <a:r>
              <a:rPr lang="en-US" sz="1200" dirty="0">
                <a:solidFill>
                  <a:srgbClr val="0071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restricted-v2</a:t>
            </a:r>
            <a:pPr indent="0" marL="0">
              <a:buNone/>
            </a:pPr>
            <a:r>
              <a:rPr lang="en-US" sz="12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0071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/dev/fuse</a:t>
            </a:r>
            <a:pPr indent="0" marL="0">
              <a:buNone/>
            </a:pPr>
            <a:r>
              <a:rPr lang="en-US" sz="12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vermediği için kullanıcı alanında taklit etmiştik.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66928" y="4782312"/>
            <a:ext cx="11057839" cy="6766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10" name="Text 7"/>
          <p:cNvSpPr/>
          <p:nvPr/>
        </p:nvSpPr>
        <p:spPr>
          <a:xfrm>
            <a:off x="713232" y="4837176"/>
            <a:ext cx="1076523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Prefetch'i öldüren kapsamdı, prefetch değil.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Eski prefetch tenant'ın tamamını indiriyordu. Ölçüm: workflow başına medyan 3 dosya / 13,7 KiB, azami </a:t>
            </a:r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35,3 KiB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512Mi'nin </a:t>
            </a:r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binde yedisi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12" name="Text 9"/>
          <p:cNvSpPr/>
          <p:nvPr/>
        </p:nvSpPr>
        <p:spPr>
          <a:xfrm>
            <a:off x="566928" y="64556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PTC · Artifact Persistence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0527487" y="645566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 / 22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SAYFA 16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spc="-40" kern="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Beyan · Süzgeç · Alias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05840"/>
            <a:ext cx="1371600" cy="25603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225296"/>
            <a:ext cx="11057839" cy="4480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280160"/>
            <a:ext cx="1076523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Üç açık, üç kanonik cevap. Üçü de kopya.</a:t>
            </a:r>
            <a:endParaRPr lang="en-US" sz="12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837944"/>
          <a:ext cx="11057839" cy="914400"/>
        </p:xfrm>
        <a:graphic>
          <a:graphicData uri="http://schemas.openxmlformats.org/drawingml/2006/table">
            <a:tbl>
              <a:tblPr/>
              <a:tblGrid>
                <a:gridCol w="2755614"/>
                <a:gridCol w="4151113"/>
                <a:gridCol w="4151113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Açık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Kaynak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Bizdeki hâli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Hangi girdi okundu (soy şişiyordu)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MLMD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Event.DECLARED_INPUT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run_ptc_code(kod, inputs=[...])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62 addan 39'u görünüyor, arama yok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MLMD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ListOptions(filter_query=…)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?name= ?type= ?workflow= ?q=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Aynı ad 17 kez, hep en yeni geliyor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MLflow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models:/&lt;ad&gt;@&lt;alias&gt;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by-name/rapor.pdf@onaylanmis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3236976"/>
            <a:ext cx="11057839" cy="4480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3291840"/>
            <a:ext cx="1076523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Beyanın iki etkisi birden:</a:t>
            </a:r>
            <a:endParaRPr lang="en-US" sz="1200" dirty="0"/>
          </a:p>
        </p:txBody>
      </p:sp>
      <p:graphicFrame>
        <p:nvGraphicFramePr>
          <p:cNvPr id="4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849624"/>
          <a:ext cx="11057839" cy="914400"/>
        </p:xfrm>
        <a:graphic>
          <a:graphicData uri="http://schemas.openxmlformats.org/drawingml/2006/table">
            <a:tbl>
              <a:tblPr/>
              <a:tblGrid>
                <a:gridCol w="2755614"/>
                <a:gridCol w="4151113"/>
                <a:gridCol w="4151113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Beyansız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inputs=["a.txt"]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/output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'a yerleşen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çalıştırmanın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hepsi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yalnızca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a.txt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turev.txt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'nin ebeveyni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a.txt, b.txt, c.txt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`a.txt`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566928" y="4965192"/>
            <a:ext cx="11057839" cy="6766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12" name="Text 8"/>
          <p:cNvSpPr/>
          <p:nvPr/>
        </p:nvSpPr>
        <p:spPr>
          <a:xfrm>
            <a:off x="713232" y="5020056"/>
            <a:ext cx="1076523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Ara denemeydi, atıldı: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soyu </a:t>
            </a:r>
            <a:pPr indent="0" marL="0">
              <a:buNone/>
            </a:pPr>
            <a:r>
              <a:rPr lang="en-US" sz="1200" dirty="0">
                <a:solidFill>
                  <a:srgbClr val="0071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atime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ile ölçmeyi denedik — çalışıyordu ama sahada emsali yok. Piyasa soyu </a:t>
            </a:r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gözlemlemiyor, beyan ediyor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; olay tipinin adı zaten </a:t>
            </a:r>
            <a:pPr indent="0" marL="0">
              <a:buNone/>
            </a:pPr>
            <a:r>
              <a:rPr lang="en-US" sz="1200" dirty="0">
                <a:solidFill>
                  <a:srgbClr val="0071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DECLARED_INPUT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14" name="Text 10"/>
          <p:cNvSpPr/>
          <p:nvPr/>
        </p:nvSpPr>
        <p:spPr>
          <a:xfrm>
            <a:off x="566928" y="64556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PTC · Artifact Persistence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10527487" y="645566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16 / 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SAYFA 17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spc="-40" kern="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Baytı HTTP ile göndermek: kimin varsayılanı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05840"/>
            <a:ext cx="1371600" cy="25603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225296"/>
            <a:ext cx="11057839" cy="4480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280160"/>
            <a:ext cx="1076523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OpenShift'in varsayılanı değil — ama icat da değil.</a:t>
            </a:r>
            <a:endParaRPr lang="en-US" sz="12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837944"/>
          <a:ext cx="11057839" cy="914400"/>
        </p:xfrm>
        <a:graphic>
          <a:graphicData uri="http://schemas.openxmlformats.org/drawingml/2006/table">
            <a:tbl>
              <a:tblPr/>
              <a:tblGrid>
                <a:gridCol w="2585323"/>
                <a:gridCol w="2824172"/>
                <a:gridCol w="2824172"/>
                <a:gridCol w="28241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Baytlar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S3 anahtarı nerede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Kayıt defteri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KFP / OpenShift AI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launcher → S3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doğrudan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kullanıcı container'ında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MLMD (ayrı kanal)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Argo Workflows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wait sidecar → S3 doğrudan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ayrı container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yok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MLflow (proxied)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client →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HTTP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→ server → depo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server'da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tracking DB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71E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BİZ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sidecar →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HTTP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→ servis → MinIO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serviste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SQLite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3520440"/>
            <a:ext cx="41148" cy="694944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3520440"/>
            <a:ext cx="10783519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*"The tracking server works as a </a:t>
            </a:r>
            <a:pPr indent="0" marL="0">
              <a:buNone/>
            </a:pPr>
            <a:r>
              <a:rPr lang="en-US" sz="1200" b="1" i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proxy</a:t>
            </a:r>
            <a:pPr indent="0" marL="0">
              <a:buNone/>
            </a:pPr>
            <a:r>
              <a:rPr lang="en-US" sz="1200" i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for accessing remote artifacts. The MLflow clients make </a:t>
            </a:r>
            <a:pPr indent="0" marL="0">
              <a:buNone/>
            </a:pPr>
            <a:r>
              <a:rPr lang="en-US" sz="1200" b="1" i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 request to the server</a:t>
            </a:r>
            <a:pPr indent="0" marL="0">
              <a:buNone/>
            </a:pPr>
            <a:r>
              <a:rPr lang="en-US" sz="1200" i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for fetching artifacts."* — </a:t>
            </a:r>
            <a:pPr indent="0" marL="0">
              <a:buNone/>
            </a:pPr>
            <a:r>
              <a:rPr lang="en-US" sz="1200" i="1" dirty="0">
                <a:solidFill>
                  <a:srgbClr val="0071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--serve-artifacts</a:t>
            </a:r>
            <a:pPr indent="0" marL="0">
              <a:buNone/>
            </a:pPr>
            <a:r>
              <a:rPr lang="en-US" sz="1200" i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MLflow'da </a:t>
            </a:r>
            <a:pPr indent="0" marL="0">
              <a:buNone/>
            </a:pPr>
            <a:r>
              <a:rPr lang="en-US" sz="1200" b="1" i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varsayılan açık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4416552"/>
            <a:ext cx="11057839" cy="6766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11" name="Text 8"/>
          <p:cNvSpPr/>
          <p:nvPr/>
        </p:nvSpPr>
        <p:spPr>
          <a:xfrm>
            <a:off x="713232" y="4471416"/>
            <a:ext cx="1076523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KFP'yi neden alamadık: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launcher kullanıcı kodunun container'ını *sarmalıyor* → S3 anahtarı LLM'in </a:t>
            </a:r>
            <a:pPr indent="0" marL="0">
              <a:buNone/>
            </a:pPr>
            <a:r>
              <a:rPr lang="en-US" sz="1200" dirty="0">
                <a:solidFill>
                  <a:srgbClr val="0071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os.environ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'unda olurdu. </a:t>
            </a:r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Argo'yu neden alamadık: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yerleşimi doğru ama </a:t>
            </a:r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kayıt defteri yok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5257800"/>
            <a:ext cx="11057839" cy="4480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13" name="Text 10"/>
          <p:cNvSpPr/>
          <p:nvPr/>
        </p:nvSpPr>
        <p:spPr>
          <a:xfrm>
            <a:off x="713232" y="5312664"/>
            <a:ext cx="1076523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Aldığımız: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yerleşim Argo'dan (ayrı container), kanal MLflow'dan (HTTP vekili).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15" name="Text 12"/>
          <p:cNvSpPr/>
          <p:nvPr/>
        </p:nvSpPr>
        <p:spPr>
          <a:xfrm>
            <a:off x="566928" y="64556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PTC · Artifact Persistence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10527487" y="645566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17 / 22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SAYFA 18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spc="-40" kern="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OpenShift'e geçilmeyecek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05840"/>
            <a:ext cx="1371600" cy="25603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225296"/>
            <a:ext cx="11057839" cy="4480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280160"/>
            <a:ext cx="1076523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Soru soruldu, ölçüldü, cevap hayır — gerekçe teknik değil, getiri.</a:t>
            </a:r>
            <a:endParaRPr lang="en-US" sz="12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837944"/>
          <a:ext cx="11057839" cy="914400"/>
        </p:xfrm>
        <a:graphic>
          <a:graphicData uri="http://schemas.openxmlformats.org/drawingml/2006/table">
            <a:tbl>
              <a:tblPr/>
              <a:tblGrid>
                <a:gridCol w="2755614"/>
                <a:gridCol w="4151113"/>
                <a:gridCol w="4151113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 (bu laptop)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CRC istiyor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Fiziksel çekirdek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 ✅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RAM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15,35 GB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(8 boş)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10,5 GB boş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⚠️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Ubuntu 24.04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*"Ubuntu and Debian: Not supported"* ⚠️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3236976"/>
            <a:ext cx="11057839" cy="6766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3291840"/>
            <a:ext cx="1076523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Kazandıracağı tek şey doğrulama: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0071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restricted-v2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SCC'yi taklit yerine gerçekte, </a:t>
            </a:r>
            <a:pPr indent="0" marL="0">
              <a:buNone/>
            </a:pPr>
            <a:r>
              <a:rPr lang="en-US" sz="1200" dirty="0">
                <a:solidFill>
                  <a:srgbClr val="0071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EgressFirewall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'ı canlı. §17 iş yükünün uyumluluğunu SCC taklidiyle </a:t>
            </a:r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zaten ölçtü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(rastgele UID 1000670000, </a:t>
            </a:r>
            <a:pPr indent="0" marL="0">
              <a:buNone/>
            </a:pPr>
            <a:r>
              <a:rPr lang="en-US" sz="1200" dirty="0">
                <a:solidFill>
                  <a:srgbClr val="0071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drop ALL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0071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RuntimeDefault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).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4078224"/>
            <a:ext cx="11057839" cy="6766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11" name="Text 8"/>
          <p:cNvSpPr/>
          <p:nvPr/>
        </p:nvSpPr>
        <p:spPr>
          <a:xfrm>
            <a:off x="713232" y="4133088"/>
            <a:ext cx="1076523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Kazandırmayacağı: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Hubble'ın karşılığı yok · OpenShift AI (KFP+MLMD+Model Registry) o RAM'e sığmaz · kind'da çalıştırma </a:t>
            </a:r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3,1 sn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CRC açılışı dakikalar.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4919472"/>
            <a:ext cx="11057839" cy="4480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13" name="Text 10"/>
          <p:cNvSpPr/>
          <p:nvPr/>
        </p:nvSpPr>
        <p:spPr>
          <a:xfrm>
            <a:off x="713232" y="4974336"/>
            <a:ext cx="1076523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Kalan tek açık: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Cilium → </a:t>
            </a:r>
            <a:pPr indent="0" marL="0">
              <a:buNone/>
            </a:pPr>
            <a:r>
              <a:rPr lang="en-US" sz="1200" dirty="0">
                <a:solidFill>
                  <a:srgbClr val="0071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NetworkPolicy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+ </a:t>
            </a:r>
            <a:pPr indent="0" marL="0">
              <a:buNone/>
            </a:pPr>
            <a:r>
              <a:rPr lang="en-US" sz="1200" dirty="0">
                <a:solidFill>
                  <a:srgbClr val="0071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EgressFirewall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çevirisi yazılmadı; yazılırsa kind'da test edilemez.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15" name="Text 12"/>
          <p:cNvSpPr/>
          <p:nvPr/>
        </p:nvSpPr>
        <p:spPr>
          <a:xfrm>
            <a:off x="566928" y="64556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PTC · Artifact Persistence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10527487" y="645566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18 / 22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SAYFA 19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spc="-40" kern="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Canlı konsol: her şey gerçek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05840"/>
            <a:ext cx="1371600" cy="25603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225296"/>
            <a:ext cx="11057839" cy="4480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280160"/>
            <a:ext cx="1076523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`/konsol` — dört sekme, sahte veri yok.</a:t>
            </a:r>
            <a:endParaRPr lang="en-US" sz="12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837944"/>
          <a:ext cx="11057839" cy="914400"/>
        </p:xfrm>
        <a:graphic>
          <a:graphicData uri="http://schemas.openxmlformats.org/drawingml/2006/table">
            <a:tbl>
              <a:tblPr/>
              <a:tblGrid>
                <a:gridCol w="4179863"/>
                <a:gridCol w="687797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Sekme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Kaynağı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Sohbet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mevcut ajan ekranı,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app.js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tek satır değişmeden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Hatlar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/api/pipelines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— iki hat, adımları ve kodlarıyla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Çalıştırma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/ws/pipeline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—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gerçek Kubernetes Job'ları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Depo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/api/depo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— kayıt defteri + süzgeçler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Soy ağacı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/api/depo/&lt;id&gt;/soy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— gerçek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parents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kenarları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3803904"/>
            <a:ext cx="11057839" cy="6766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3858768"/>
            <a:ext cx="1076523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İki node türü, fark uydurma değil: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0071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sandbox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gerçek PTC pod'u açar · </a:t>
            </a:r>
            <a:pPr indent="0" marL="0">
              <a:buNone/>
            </a:pPr>
            <a:r>
              <a:rPr lang="en-US" sz="1200" dirty="0">
                <a:solidFill>
                  <a:srgbClr val="0071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query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kayıt defterine sorgu atar, </a:t>
            </a:r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pod açmaz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 Sandbox'ın listeleme yolu hiç yok — keşif host tarafında olur.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4645152"/>
            <a:ext cx="11057839" cy="4480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11" name="Text 8"/>
          <p:cNvSpPr/>
          <p:nvPr/>
        </p:nvSpPr>
        <p:spPr>
          <a:xfrm>
            <a:off x="713232" y="4700016"/>
            <a:ext cx="1076523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Çapraz workflow canlı doğrulandı: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64556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PTC · Artifact Persistence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0527487" y="645566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19 / 22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SAYFA 19 · devam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spc="-40" kern="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Canlı konsol: her şey gerçek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05840"/>
            <a:ext cx="1371600" cy="25603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225296"/>
            <a:ext cx="11057839" cy="827532"/>
          </a:xfrm>
          <a:prstGeom prst="rect">
            <a:avLst/>
          </a:prstGeom>
          <a:solidFill>
            <a:srgbClr val="F5F5F7"/>
          </a:solidFill>
          <a:ln w="6350">
            <a:solidFill>
              <a:srgbClr val="D8D8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4944" y="1316736"/>
            <a:ext cx="10801807" cy="6446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D1D1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adım 1  GET /artifacts?name=processed-result.json → üreten wf e841efd4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D1D1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adım 2  load_artifact("e841efd4-…", "processed-result.json")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D1D1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    analysis-input.json  parents=['art_5605dd638cab']   ← sınır geçildi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66928" y="2253996"/>
            <a:ext cx="11057839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Sol altta PTC terminali: pod adı, çalıştırılan kod, süpürülen artifact — canlı.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64556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PTC · Artifact Persistence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527487" y="645566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19 / 22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SAYFA 20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spc="-40" kern="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Vaka: başka bir workflow'un artifact'ını kullanmak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05840"/>
            <a:ext cx="1371600" cy="25603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225296"/>
            <a:ext cx="11057839" cy="4480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280160"/>
            <a:ext cx="1076523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PoC bunu üç ayrı yerden gösteriyor.</a:t>
            </a:r>
            <a:endParaRPr lang="en-US" sz="12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837944"/>
          <a:ext cx="11057839" cy="914400"/>
        </p:xfrm>
        <a:graphic>
          <a:graphicData uri="http://schemas.openxmlformats.org/drawingml/2006/table">
            <a:tbl>
              <a:tblPr/>
              <a:tblGrid>
                <a:gridCol w="4179863"/>
                <a:gridCol w="687797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Soru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Nerede görünüyor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Sınır geçildi mi?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Soy ağacı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— kesikli mavi kenar, farklı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workflow_id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Kim geçti?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Depo müfettişi → Kullananlar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— "başka çalıştırma" rozeti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Hangi sürüm seçildi?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Keşif adımının log'u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— alias mı, en yeni mi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3236976"/>
            <a:ext cx="11057839" cy="4480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3291840"/>
            <a:ext cx="1076523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 yazılı, ne çalışma anında bulunuyor:</a:t>
            </a:r>
            <a:endParaRPr lang="en-US" sz="1200" dirty="0"/>
          </a:p>
        </p:txBody>
      </p:sp>
      <p:graphicFrame>
        <p:nvGraphicFramePr>
          <p:cNvPr id="5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849624"/>
          <a:ext cx="11057839" cy="914400"/>
        </p:xfrm>
        <a:graphic>
          <a:graphicData uri="http://schemas.openxmlformats.org/drawingml/2006/table">
            <a:tbl>
              <a:tblPr/>
              <a:tblGrid>
                <a:gridCol w="4179863"/>
                <a:gridCol w="687797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Nereden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Ne aranacak (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processed-result.json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yazılı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— hat tanımında, Argo/KFP gibi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Hangi çalıştırma üretmiş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çalışma anında, kayıt defteri sorgusundan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Hangi sürüm (8 aday arasından)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çalışma anında, alias/en-yeni kuralıyla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12" name="Text 8"/>
          <p:cNvSpPr/>
          <p:nvPr/>
        </p:nvSpPr>
        <p:spPr>
          <a:xfrm>
            <a:off x="566928" y="64556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PTC · Artifact Persistence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10527487" y="645566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20 / 22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SAYFA 20 · devam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spc="-40" kern="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Vaka: başka bir workflow'un artifact'ını kullanmak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05840"/>
            <a:ext cx="1371600" cy="25603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225296"/>
            <a:ext cx="11057839" cy="827532"/>
          </a:xfrm>
          <a:prstGeom prst="rect">
            <a:avLst/>
          </a:prstGeom>
          <a:solidFill>
            <a:srgbClr val="F5F5F7"/>
          </a:solidFill>
          <a:ln w="6350">
            <a:solidFill>
              <a:srgbClr val="D8D8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4944" y="1316736"/>
            <a:ext cx="10801807" cy="6446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D1D1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load_artifact("{kaynak_wf}", "processed-result.json")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D1D1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           ^^^^^^^^^^^   ^^^^^^^^^^^^^^^^^^^^^^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D1D1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           bulunuyor      yazılı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66928" y="2253996"/>
            <a:ext cx="11057839" cy="4480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2308860"/>
            <a:ext cx="1076523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Sürüm seçimi canlı doğrulandı:</a:t>
            </a:r>
            <a:endParaRPr lang="en-US" sz="12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866644"/>
          <a:ext cx="11057839" cy="914400"/>
        </p:xfrm>
        <a:graphic>
          <a:graphicData uri="http://schemas.openxmlformats.org/drawingml/2006/table">
            <a:tbl>
              <a:tblPr/>
              <a:tblGrid>
                <a:gridCol w="2755614"/>
                <a:gridCol w="4151113"/>
                <a:gridCol w="4151113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Seçilen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Üreten çalıştırma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alias yokken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art_dd422fd3e66b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—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en yeni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119d1f91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@onaylanmis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sabitliyken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art_cfa44f0298f5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—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en eski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bfc62bbe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566928" y="3982212"/>
            <a:ext cx="11057839" cy="6766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11" name="Text 8"/>
          <p:cNvSpPr/>
          <p:nvPr/>
        </p:nvSpPr>
        <p:spPr>
          <a:xfrm>
            <a:off x="713232" y="4037076"/>
            <a:ext cx="1076523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Adı da modelin seçtiği yol Sohbet sekmesi: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orada hiçbir şey yazılı değil, manifest isimleri veriyor, neyi okuyacağına model karar veriyor.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64556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PTC · Artifact Persistence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0527487" y="645566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20 / 22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SAYFA 21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spc="-40" kern="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Açıklar (saklamıyoruz)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05840"/>
            <a:ext cx="1371600" cy="25603"/>
          </a:xfrm>
          <a:prstGeom prst="rect">
            <a:avLst/>
          </a:prstGeom>
          <a:solidFill>
            <a:srgbClr val="0071E3"/>
          </a:solidFill>
          <a:ln/>
        </p:spPr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25296"/>
          <a:ext cx="11057839" cy="914400"/>
        </p:xfrm>
        <a:graphic>
          <a:graphicData uri="http://schemas.openxmlformats.org/drawingml/2006/table">
            <a:tbl>
              <a:tblPr/>
              <a:tblGrid>
                <a:gridCol w="2755614"/>
                <a:gridCol w="4151113"/>
                <a:gridCol w="4151113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Konu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Durum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Etki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İzolasyon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Düz container, Kata yok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Red Hat'in önerisine uymuyoruz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Metadata DB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SQLite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Tek replika sınırı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Workflow state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Postgres yolu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test edilmedi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Cluster'da Postgres yok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Auth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Yok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Uuid'yi bilen okur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Büyük dosya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100 MiB / 512Mi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 GB çalışmaz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İsim çakışması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"En yeni" kazanır, sessiz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Tenant genelinde daha olası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strike="sngStrike" dirty="0">
                          <a:solidFill>
                            <a:srgbClr val="6E6E7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**Şeffaf okuma**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7E4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KAPANDI (2026-09-07)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7E4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— yama yok, dosyalar gerçek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Emsalsiz olan son desenimizdi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`user_metadata`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Süpürme yolunda doldurulamıyor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put_artifact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kalkınca kapandı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Tip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Yalnızca dosya uzantısından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Metrik/Dataset ayrımı kayboldu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Soy imzasız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Kayıt defterine yazabilen değiştirebilir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Tekton Chains bunu çözüyor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Gerçek OBC/ODF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Test edilmedi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ODF kapsam dışı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64556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PTC · Artifact Persistence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527487" y="645566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21 / 22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SAYFA 22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spc="-40" kern="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Ekibe dört soru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05840"/>
            <a:ext cx="1371600" cy="25603"/>
          </a:xfrm>
          <a:prstGeom prst="rect">
            <a:avLst/>
          </a:prstGeom>
          <a:solidFill>
            <a:srgbClr val="0071E3"/>
          </a:solidFill>
          <a:ln/>
        </p:spPr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25296"/>
          <a:ext cx="11057839" cy="914400"/>
        </p:xfrm>
        <a:graphic>
          <a:graphicData uri="http://schemas.openxmlformats.org/drawingml/2006/table">
            <a:tbl>
              <a:tblPr/>
              <a:tblGrid>
                <a:gridCol w="2755614"/>
                <a:gridCol w="4151113"/>
                <a:gridCol w="4151113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Soru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Neden önemli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Kurumda S3-uyumlu depo var mı?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ODF yok → S3'ü biz getireceğiz. Red Hat'in kendi ürünü de zorunlu tutuyor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Hangi StorageClass'lar var, RWX destekleyen var mı?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Tekton'un PVC deseni mümkün mü belirler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OpenShift Sandboxed Containers (Kata) kurulu mu?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En büyük açığımız; kod değişikliği gerektirmez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PostgreSQL sağlanabilir mi?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Hem artifact metadata hem workflow state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2907792"/>
            <a:ext cx="11057839" cy="6766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2962656"/>
            <a:ext cx="1076523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soru en kritik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ODF kapsam dışına çıkınca "S3 nereden gelecek" cevapsız kaldı. Varsa endpoint + bucket + anahtar yeter, </a:t>
            </a:r>
            <a:pPr indent="0" marL="0">
              <a:buNone/>
            </a:pPr>
            <a:r>
              <a:rPr lang="en-US" sz="1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kod hazır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(iki sözleşmeyi de okuyor).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9" name="Text 6"/>
          <p:cNvSpPr/>
          <p:nvPr/>
        </p:nvSpPr>
        <p:spPr>
          <a:xfrm>
            <a:off x="566928" y="64556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PTC · Artifact Persistence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0527487" y="645566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22 / 22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PTC Artifact Persistence — Karşılaştırmalı Sunum</dc:title>
  <dc:subject>PptxGenJS Presentation</dc:subject>
  <dc:creator>PTC</dc:creator>
  <cp:lastModifiedBy>PTC</cp:lastModifiedBy>
  <cp:revision>1</cp:revision>
  <dcterms:created xsi:type="dcterms:W3CDTF">2026-09-07T11:08:11Z</dcterms:created>
  <dcterms:modified xsi:type="dcterms:W3CDTF">2026-09-07T11:08:11Z</dcterms:modified>
</cp:coreProperties>
</file>